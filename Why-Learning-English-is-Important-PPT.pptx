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3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75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71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252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041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751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24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225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135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03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792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AB92A-9491-4E11-A29D-550313F6B5F4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BE125D9-B3EE-4B2E-8A4B-5353335FF12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71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ADF7-9F4B-49F1-B674-CBDB53933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304" y="887895"/>
            <a:ext cx="9769391" cy="1382407"/>
          </a:xfrm>
        </p:spPr>
        <p:txBody>
          <a:bodyPr>
            <a:noAutofit/>
          </a:bodyPr>
          <a:lstStyle/>
          <a:p>
            <a:pPr algn="ctr"/>
            <a:r>
              <a:rPr lang="en-US" sz="5000" dirty="0">
                <a:latin typeface="Arial Rounded MT Bold" panose="020F0704030504030204" pitchFamily="34" charset="0"/>
              </a:rPr>
              <a:t>Why Learning English is Important?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7C67F-968D-455C-A760-447406F5B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2451379"/>
            <a:ext cx="8637072" cy="977621"/>
          </a:xfrm>
        </p:spPr>
        <p:txBody>
          <a:bodyPr>
            <a:normAutofit/>
          </a:bodyPr>
          <a:lstStyle/>
          <a:p>
            <a:pPr algn="ctr"/>
            <a:r>
              <a:rPr lang="en-US" sz="4000" u="sng" dirty="0">
                <a:latin typeface="Arial Rounded MT Bold" panose="020F0704030504030204" pitchFamily="34" charset="0"/>
              </a:rPr>
              <a:t>Presented by bs it 1 - 7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BCE83-AFAE-4E94-812E-916ECF1B96A5}"/>
              </a:ext>
            </a:extLst>
          </p:cNvPr>
          <p:cNvSpPr txBox="1"/>
          <p:nvPr/>
        </p:nvSpPr>
        <p:spPr>
          <a:xfrm>
            <a:off x="2319966" y="3636581"/>
            <a:ext cx="75520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Baybayan Jr, Jerry Jay D.</a:t>
            </a:r>
          </a:p>
          <a:p>
            <a:pPr algn="ctr"/>
            <a:r>
              <a:rPr lang="en-US" dirty="0">
                <a:latin typeface="Arial Rounded MT Bold" panose="020F0704030504030204" pitchFamily="34" charset="0"/>
              </a:rPr>
              <a:t>Coral, Kian C.</a:t>
            </a:r>
          </a:p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Abenojar</a:t>
            </a:r>
            <a:r>
              <a:rPr lang="en-US" dirty="0">
                <a:latin typeface="Arial Rounded MT Bold" panose="020F0704030504030204" pitchFamily="34" charset="0"/>
              </a:rPr>
              <a:t>, Santino C.</a:t>
            </a:r>
          </a:p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Carasi</a:t>
            </a:r>
            <a:r>
              <a:rPr lang="en-US" dirty="0">
                <a:latin typeface="Arial Rounded MT Bold" panose="020F0704030504030204" pitchFamily="34" charset="0"/>
              </a:rPr>
              <a:t>, Justin Charles L.</a:t>
            </a:r>
          </a:p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Navaro</a:t>
            </a:r>
            <a:r>
              <a:rPr lang="en-US" dirty="0">
                <a:latin typeface="Arial Rounded MT Bold" panose="020F0704030504030204" pitchFamily="34" charset="0"/>
              </a:rPr>
              <a:t>, </a:t>
            </a:r>
            <a:r>
              <a:rPr lang="en-US" dirty="0" err="1">
                <a:latin typeface="Arial Rounded MT Bold" panose="020F0704030504030204" pitchFamily="34" charset="0"/>
              </a:rPr>
              <a:t>Cayl</a:t>
            </a:r>
            <a:r>
              <a:rPr lang="en-US" dirty="0">
                <a:latin typeface="Arial Rounded MT Bold" panose="020F0704030504030204" pitchFamily="34" charset="0"/>
              </a:rPr>
              <a:t> Joshua A.</a:t>
            </a:r>
          </a:p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Villacote</a:t>
            </a:r>
            <a:r>
              <a:rPr lang="en-US" dirty="0">
                <a:latin typeface="Arial Rounded MT Bold" panose="020F0704030504030204" pitchFamily="34" charset="0"/>
              </a:rPr>
              <a:t>, Juan Miguel P.</a:t>
            </a:r>
          </a:p>
          <a:p>
            <a:pPr algn="ctr"/>
            <a:r>
              <a:rPr lang="en-US" dirty="0" err="1">
                <a:latin typeface="Arial Rounded MT Bold" panose="020F0704030504030204" pitchFamily="34" charset="0"/>
              </a:rPr>
              <a:t>Manaois</a:t>
            </a:r>
            <a:r>
              <a:rPr lang="en-US" dirty="0">
                <a:latin typeface="Arial Rounded MT Bold" panose="020F0704030504030204" pitchFamily="34" charset="0"/>
              </a:rPr>
              <a:t>, Angelo Wayne M.</a:t>
            </a:r>
          </a:p>
          <a:p>
            <a:pPr algn="ctr"/>
            <a:r>
              <a:rPr lang="en-US" dirty="0">
                <a:latin typeface="Arial Rounded MT Bold" panose="020F0704030504030204" pitchFamily="34" charset="0"/>
              </a:rPr>
              <a:t>Basa, Marc Gerome G.</a:t>
            </a:r>
          </a:p>
        </p:txBody>
      </p:sp>
    </p:spTree>
    <p:extLst>
      <p:ext uri="{BB962C8B-B14F-4D97-AF65-F5344CB8AC3E}">
        <p14:creationId xmlns:p14="http://schemas.microsoft.com/office/powerpoint/2010/main" val="3460034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ADF7-9F4B-49F1-B674-CBDB53933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304" y="887895"/>
            <a:ext cx="9769391" cy="1382407"/>
          </a:xfrm>
        </p:spPr>
        <p:txBody>
          <a:bodyPr>
            <a:noAutofit/>
          </a:bodyPr>
          <a:lstStyle/>
          <a:p>
            <a:pPr algn="ctr"/>
            <a:r>
              <a:rPr lang="en-US" sz="5000" dirty="0">
                <a:latin typeface="Arial Rounded MT Bold" panose="020F0704030504030204" pitchFamily="34" charset="0"/>
              </a:rPr>
              <a:t>Why Learning English is Important?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7C67F-968D-455C-A760-447406F5B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4" y="2451379"/>
            <a:ext cx="8637072" cy="977621"/>
          </a:xfrm>
        </p:spPr>
        <p:txBody>
          <a:bodyPr>
            <a:normAutofit/>
          </a:bodyPr>
          <a:lstStyle/>
          <a:p>
            <a:pPr algn="ctr"/>
            <a:r>
              <a:rPr lang="en-US" sz="4000" u="sng" dirty="0">
                <a:latin typeface="Arial Rounded MT Bold" panose="020F0704030504030204" pitchFamily="34" charset="0"/>
              </a:rPr>
              <a:t>What is English?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BCE83-AFAE-4E94-812E-916ECF1B96A5}"/>
              </a:ext>
            </a:extLst>
          </p:cNvPr>
          <p:cNvSpPr txBox="1"/>
          <p:nvPr/>
        </p:nvSpPr>
        <p:spPr>
          <a:xfrm>
            <a:off x="2319966" y="3636581"/>
            <a:ext cx="7552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0" i="0" dirty="0">
                <a:effectLst/>
                <a:latin typeface="Arial Rounded MT Bold" panose="020F0704030504030204" pitchFamily="34" charset="0"/>
              </a:rPr>
              <a:t>English is a global language that originated in England and is now a West Germanic language spoken worldwide. It is the most widely spoken second language and is a common language in business, science, and international communication. 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556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ADF7-9F4B-49F1-B674-CBDB53933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304" y="887895"/>
            <a:ext cx="9769391" cy="1382407"/>
          </a:xfrm>
        </p:spPr>
        <p:txBody>
          <a:bodyPr>
            <a:noAutofit/>
          </a:bodyPr>
          <a:lstStyle/>
          <a:p>
            <a:pPr algn="ctr"/>
            <a:r>
              <a:rPr lang="en-US" sz="5000" dirty="0">
                <a:latin typeface="Arial Rounded MT Bold" panose="020F0704030504030204" pitchFamily="34" charset="0"/>
              </a:rPr>
              <a:t>Why Learning English is Important?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7C67F-968D-455C-A760-447406F5B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2" y="2451379"/>
            <a:ext cx="8637072" cy="977621"/>
          </a:xfrm>
        </p:spPr>
        <p:txBody>
          <a:bodyPr>
            <a:normAutofit/>
          </a:bodyPr>
          <a:lstStyle/>
          <a:p>
            <a:pPr algn="ctr"/>
            <a:r>
              <a:rPr lang="en-US" sz="4000" u="sng" dirty="0">
                <a:latin typeface="Arial Rounded MT Bold" panose="020F0704030504030204" pitchFamily="34" charset="0"/>
              </a:rPr>
              <a:t>What is the purpose of it?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BCE83-AFAE-4E94-812E-916ECF1B96A5}"/>
              </a:ext>
            </a:extLst>
          </p:cNvPr>
          <p:cNvSpPr txBox="1"/>
          <p:nvPr/>
        </p:nvSpPr>
        <p:spPr>
          <a:xfrm>
            <a:off x="2319966" y="3636581"/>
            <a:ext cx="8094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	The purpose of English is to be</a:t>
            </a:r>
            <a:r>
              <a:rPr lang="en-US" b="0" i="0" dirty="0">
                <a:effectLst/>
                <a:latin typeface="Arial Rounded MT Bold" panose="020F0704030504030204" pitchFamily="34" charset="0"/>
              </a:rPr>
              <a:t> used for global communication, international business, science, technology, diplomacy, and the internet. It is also a gateway to cultural enrichment through literature, film, and music, and it enhances career and educational opportunities by providing access to information and a wider job market. 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168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ADF7-9F4B-49F1-B674-CBDB53933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304" y="887895"/>
            <a:ext cx="9769391" cy="1382407"/>
          </a:xfrm>
        </p:spPr>
        <p:txBody>
          <a:bodyPr>
            <a:noAutofit/>
          </a:bodyPr>
          <a:lstStyle/>
          <a:p>
            <a:pPr algn="ctr"/>
            <a:r>
              <a:rPr lang="en-US" sz="5000" dirty="0">
                <a:latin typeface="Arial Rounded MT Bold" panose="020F0704030504030204" pitchFamily="34" charset="0"/>
              </a:rPr>
              <a:t>Why Learning English is Important?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7C67F-968D-455C-A760-447406F5B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2" y="2451379"/>
            <a:ext cx="8637072" cy="977621"/>
          </a:xfrm>
        </p:spPr>
        <p:txBody>
          <a:bodyPr>
            <a:normAutofit/>
          </a:bodyPr>
          <a:lstStyle/>
          <a:p>
            <a:pPr algn="ctr"/>
            <a:r>
              <a:rPr lang="en-US" sz="4000" u="sng" dirty="0">
                <a:latin typeface="Arial Rounded MT Bold" panose="020F0704030504030204" pitchFamily="34" charset="0"/>
              </a:rPr>
              <a:t>Why is it important?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BCE83-AFAE-4E94-812E-916ECF1B96A5}"/>
              </a:ext>
            </a:extLst>
          </p:cNvPr>
          <p:cNvSpPr txBox="1"/>
          <p:nvPr/>
        </p:nvSpPr>
        <p:spPr>
          <a:xfrm>
            <a:off x="2319966" y="3636581"/>
            <a:ext cx="80945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	English is important because it's a global language that facilitates career opportunities, international communication, and access to information and education</a:t>
            </a:r>
            <a:r>
              <a:rPr lang="en-US" b="0" i="0" dirty="0">
                <a:effectLst/>
                <a:latin typeface="Arial Rounded MT Bold" panose="020F0704030504030204" pitchFamily="34" charset="0"/>
              </a:rPr>
              <a:t>. It also improves cultural understanding, enhances travel experiences, and boosts personal confidence and cognitive skills. 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12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8ADF7-9F4B-49F1-B674-CBDB53933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304" y="887895"/>
            <a:ext cx="9769391" cy="1382407"/>
          </a:xfrm>
        </p:spPr>
        <p:txBody>
          <a:bodyPr>
            <a:noAutofit/>
          </a:bodyPr>
          <a:lstStyle/>
          <a:p>
            <a:pPr algn="ctr"/>
            <a:r>
              <a:rPr lang="en-US" sz="5000" dirty="0">
                <a:latin typeface="Arial Rounded MT Bold" panose="020F0704030504030204" pitchFamily="34" charset="0"/>
              </a:rPr>
              <a:t>Why Learning English is Important?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7C67F-968D-455C-A760-447406F5B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7463" y="2270302"/>
            <a:ext cx="8637072" cy="977621"/>
          </a:xfrm>
        </p:spPr>
        <p:txBody>
          <a:bodyPr>
            <a:noAutofit/>
          </a:bodyPr>
          <a:lstStyle/>
          <a:p>
            <a:pPr algn="ctr"/>
            <a:r>
              <a:rPr lang="en-US" sz="2500" u="sng" dirty="0">
                <a:latin typeface="Arial Rounded MT Bold" panose="020F0704030504030204" pitchFamily="34" charset="0"/>
              </a:rPr>
              <a:t>How can we use it as a </a:t>
            </a:r>
          </a:p>
          <a:p>
            <a:pPr algn="ctr"/>
            <a:r>
              <a:rPr lang="en-US" sz="2500" u="sng" dirty="0">
                <a:latin typeface="Arial Rounded MT Bold" panose="020F0704030504030204" pitchFamily="34" charset="0"/>
              </a:rPr>
              <a:t>technology for communication?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BCE83-AFAE-4E94-812E-916ECF1B96A5}"/>
              </a:ext>
            </a:extLst>
          </p:cNvPr>
          <p:cNvSpPr txBox="1"/>
          <p:nvPr/>
        </p:nvSpPr>
        <p:spPr>
          <a:xfrm>
            <a:off x="2319966" y="3636581"/>
            <a:ext cx="8094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</a:rPr>
              <a:t>We can use it  as a technology for communication by utilizing a wide range of tools, including language learning apps for practice, collaborative platforms for teamwork</a:t>
            </a:r>
            <a:r>
              <a:rPr lang="en-US" b="0" i="0" dirty="0">
                <a:effectLst/>
                <a:latin typeface="Arial Rounded MT Bold" panose="020F0704030504030204" pitchFamily="34" charset="0"/>
              </a:rPr>
              <a:t>. These tools facilitate global communication by providing access to a vast amount of technical information, allowing for real-time conversations with native speakers, and creating a global environment for sharing and collaboration on projects,</a:t>
            </a:r>
            <a:endParaRPr lang="en-US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59730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20</TotalTime>
  <Words>319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Rounded MT Bold</vt:lpstr>
      <vt:lpstr>Gill Sans MT</vt:lpstr>
      <vt:lpstr>Gallery</vt:lpstr>
      <vt:lpstr>Why Learning English is Important?</vt:lpstr>
      <vt:lpstr>Why Learning English is Important?</vt:lpstr>
      <vt:lpstr>Why Learning English is Important?</vt:lpstr>
      <vt:lpstr>Why Learning English is Important?</vt:lpstr>
      <vt:lpstr>Why Learning English is Important?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Learning English is Important?</dc:title>
  <dc:creator>Elisa Baybayan</dc:creator>
  <cp:lastModifiedBy>Elisa Baybayan</cp:lastModifiedBy>
  <cp:revision>3</cp:revision>
  <dcterms:created xsi:type="dcterms:W3CDTF">2025-11-01T14:10:52Z</dcterms:created>
  <dcterms:modified xsi:type="dcterms:W3CDTF">2025-11-01T14:31:36Z</dcterms:modified>
</cp:coreProperties>
</file>